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710"/>
  </p:normalViewPr>
  <p:slideViewPr>
    <p:cSldViewPr snapToGrid="0">
      <p:cViewPr varScale="1">
        <p:scale>
          <a:sx n="144" d="100"/>
          <a:sy n="144" d="100"/>
        </p:scale>
        <p:origin x="21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806333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8854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86822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02681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00807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97599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2656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55295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26951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579766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65394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72102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16692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04778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B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C76AF3F-26A8-8A49-BE20-F5E2A33A8B00}" type="datetimeFigureOut">
              <a:rPr lang="en-BD" smtClean="0"/>
              <a:t>6/2/26</a:t>
            </a:fld>
            <a:endParaRPr lang="en-B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5FCEA87F-88E1-604D-A1DA-4E67CF155EAB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06548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46" r:id="rId1"/>
    <p:sldLayoutId id="2147484347" r:id="rId2"/>
    <p:sldLayoutId id="2147484348" r:id="rId3"/>
    <p:sldLayoutId id="2147484349" r:id="rId4"/>
    <p:sldLayoutId id="2147484350" r:id="rId5"/>
    <p:sldLayoutId id="2147484351" r:id="rId6"/>
    <p:sldLayoutId id="2147484352" r:id="rId7"/>
    <p:sldLayoutId id="2147484353" r:id="rId8"/>
    <p:sldLayoutId id="2147484354" r:id="rId9"/>
    <p:sldLayoutId id="2147484355" r:id="rId10"/>
    <p:sldLayoutId id="2147484356" r:id="rId11"/>
    <p:sldLayoutId id="2147484357" r:id="rId12"/>
    <p:sldLayoutId id="2147484358" r:id="rId13"/>
    <p:sldLayoutId id="214748435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BA7D-D31A-BE47-E178-A7AD1AC3A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3896" y="756904"/>
            <a:ext cx="9695309" cy="2421464"/>
          </a:xfrm>
        </p:spPr>
        <p:txBody>
          <a:bodyPr>
            <a:normAutofit/>
          </a:bodyPr>
          <a:lstStyle/>
          <a:p>
            <a:pPr algn="l"/>
            <a:r>
              <a:rPr lang="bn-BD" sz="4800" dirty="0">
                <a:latin typeface="Times New Roman" panose="02020603050405020304" pitchFamily="18" charset="0"/>
              </a:rPr>
              <a:t>আধুনিক সফটওয়্যার ডিপ্লয়মেন্ট কৌশল</a:t>
            </a:r>
            <a:endParaRPr lang="en-BD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13355F-B696-55AB-6140-6F4745B37F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223453" y="3801849"/>
            <a:ext cx="61350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ব্যবহারকারীর অভিজ্ঞতা অক্ষুণ্ণ রেখে নিরবিচ্ছিন্ন আপডেট প্রদান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491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DDE5-F040-1B5E-80B7-CCF49EDF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n-BD" b="1" dirty="0">
                <a:latin typeface="Times New Roman" panose="02020603050405020304" pitchFamily="18" charset="0"/>
              </a:rPr>
              <a:t>ভূমিকা (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Introduction)</a:t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B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2A2EF-9847-EE71-4B5F-D4016B616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9052742" cy="4195481"/>
          </a:xfrm>
        </p:spPr>
        <p:txBody>
          <a:bodyPr/>
          <a:lstStyle/>
          <a:p>
            <a:r>
              <a:rPr lang="bn-BD" b="1" dirty="0">
                <a:latin typeface="Times New Roman" panose="02020603050405020304" pitchFamily="18" charset="0"/>
              </a:rPr>
              <a:t>ডিপ্লয়মেন্ট কী?</a:t>
            </a:r>
            <a:r>
              <a:rPr lang="bn-BD" dirty="0">
                <a:latin typeface="Times New Roman" panose="02020603050405020304" pitchFamily="18" charset="0"/>
              </a:rPr>
              <a:t> নতুন কোড বা ফিচারকে প্রোডাকশন এনভায়রনমেন্টে (ব্যবহারকারীদের কাছে) পৌঁছে দেওয়ার প্রক্রিয়া।</a:t>
            </a:r>
            <a:endParaRPr lang="en-US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bn-BD" dirty="0">
              <a:latin typeface="Times New Roman" panose="02020603050405020304" pitchFamily="18" charset="0"/>
            </a:endParaRPr>
          </a:p>
          <a:p>
            <a:r>
              <a:rPr lang="bn-BD" b="1" dirty="0">
                <a:latin typeface="Times New Roman" panose="02020603050405020304" pitchFamily="18" charset="0"/>
              </a:rPr>
              <a:t>মূল লক্ষ্য:</a:t>
            </a:r>
            <a:endParaRPr lang="bn-BD" dirty="0">
              <a:latin typeface="Times New Roman" panose="02020603050405020304" pitchFamily="18" charset="0"/>
            </a:endParaRPr>
          </a:p>
          <a:p>
            <a:pPr lvl="1"/>
            <a:r>
              <a:rPr lang="bn-BD" dirty="0">
                <a:latin typeface="Times New Roman" panose="02020603050405020304" pitchFamily="18" charset="0"/>
              </a:rPr>
              <a:t>দ্রুত নতুন ফিচার রিলিজ করা।</a:t>
            </a:r>
          </a:p>
          <a:p>
            <a:pPr lvl="1"/>
            <a:r>
              <a:rPr lang="bn-BD" dirty="0">
                <a:latin typeface="Times New Roman" panose="02020603050405020304" pitchFamily="18" charset="0"/>
              </a:rPr>
              <a:t>সার্ভার ডাউনটাইম (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Downtime) </a:t>
            </a:r>
            <a:r>
              <a:rPr lang="bn-BD" dirty="0">
                <a:latin typeface="Times New Roman" panose="02020603050405020304" pitchFamily="18" charset="0"/>
              </a:rPr>
              <a:t>শূন্যে রাখা।</a:t>
            </a:r>
          </a:p>
          <a:p>
            <a:pPr lvl="1"/>
            <a:r>
              <a:rPr lang="bn-BD" dirty="0">
                <a:latin typeface="Times New Roman" panose="02020603050405020304" pitchFamily="18" charset="0"/>
              </a:rPr>
              <a:t>সফটওয়্যারকে ত্রুটিমুক্ত রাখা।</a:t>
            </a:r>
          </a:p>
          <a:p>
            <a:endParaRPr lang="en-BD" dirty="0"/>
          </a:p>
        </p:txBody>
      </p:sp>
    </p:spTree>
    <p:extLst>
      <p:ext uri="{BB962C8B-B14F-4D97-AF65-F5344CB8AC3E}">
        <p14:creationId xmlns:p14="http://schemas.microsoft.com/office/powerpoint/2010/main" val="2848953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89FB-063A-B864-5045-C194BD85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dirty="0">
                <a:latin typeface="Times New Roman" panose="02020603050405020304" pitchFamily="18" charset="0"/>
              </a:rPr>
              <a:t>ব্লু-গ্রিন ডিপ্লয়মেন্ট (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Blue/Green Deployment)</a:t>
            </a:r>
            <a:endParaRPr lang="en-B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64E77A-1F06-2134-5D5F-14F7E7711A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160287"/>
            <a:ext cx="92897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ধারণা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দুটি হুবহু এক এনভায়রনমেন্ট বজায় রাখা।</a:t>
            </a:r>
            <a:endParaRPr kumimoji="0" lang="en-US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কিভাবে কাজ করে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Blue: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বর্তমান লাইভ ভার্সন।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নতুন ভার্সন এখানে টেস্ট করা হয়।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ট্রাফিক সুইচ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টেস্ট সফল হলে লোড ব্যালেন্সারের মাধ্যমে সব ট্রাফিক 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Green-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এ পাঠানো হয়।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BD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সুবিধা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কোনো সমস্যা হলে দ্রুত পুরনো ভার্সনে 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(Blue)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ফিরে আসা 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(Rollback)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যায়।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1" name="Picture 3" descr="Article content">
            <a:extLst>
              <a:ext uri="{FF2B5EF4-FFF2-40B4-BE49-F238E27FC236}">
                <a16:creationId xmlns:a16="http://schemas.microsoft.com/office/drawing/2014/main" id="{726A8C4B-9D2B-91B5-3D93-4A02C288D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1" y="4814072"/>
            <a:ext cx="9753899" cy="194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270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474D1-68D5-5DF0-C249-487D5C8FF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dirty="0">
                <a:latin typeface="Times New Roman" panose="02020603050405020304" pitchFamily="18" charset="0"/>
              </a:rPr>
              <a:t>ক্যানারি ডিপ্লয়মেন্ট (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Canary Deployment)</a:t>
            </a:r>
            <a:endParaRPr lang="en-B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A816FD-8BD3-41DD-4E7F-951BE1A06A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4508" y="2073306"/>
            <a:ext cx="1052403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ধারণা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ঝুঁকি কমাতে প্রথমে অল্প সংখ্যক ব্যবহারকারীর জন্য আপডেট রিলিজ করা।</a:t>
            </a:r>
            <a:endParaRPr kumimoji="0" lang="en-US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প্রক্রিয়া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প্রথমে ৫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বা ২৫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ট্রাফিক নতুন ভার্সনে পাঠানো হয়।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ফিডব্যাক ভালো হলে ধীরে ধীরে ১০০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ট্রাফিক মাইগ্রেট করা হয়।</a:t>
            </a:r>
            <a:endParaRPr kumimoji="0" lang="en-US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সুবিধা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</a:t>
            </a:r>
            <a:r>
              <a:rPr lang="bn-BD" sz="1800" dirty="0"/>
              <a:t>সমস্যার দ্রুত সনাক্তকরণ, বড় ধরনের সমস্যা এড়ানো, ব্যবহারকারীদের একটি ছোট অংশ প্রভাবিত হয়।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5" name="Picture 3" descr="Article content">
            <a:extLst>
              <a:ext uri="{FF2B5EF4-FFF2-40B4-BE49-F238E27FC236}">
                <a16:creationId xmlns:a16="http://schemas.microsoft.com/office/drawing/2014/main" id="{F01FB50C-5292-643E-4BFB-0FEC24B48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4" y="4201727"/>
            <a:ext cx="8987161" cy="228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055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7848-2DDE-9D0D-E80B-B456A7C6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BD" dirty="0">
                <a:latin typeface="Times New Roman" panose="02020603050405020304" pitchFamily="18" charset="0"/>
              </a:rPr>
              <a:t>এ/বি টেস্টিং (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 Testing)</a:t>
            </a:r>
            <a:endParaRPr lang="en-B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520CC5-F569-805E-BD5E-5786FA04FF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046673"/>
            <a:ext cx="799122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উদ্দেশ্য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ফিচারের কার্যকারিতা এবং ব্যবহারকারীর আচরণ যাচাই করা।</a:t>
            </a:r>
            <a:endParaRPr kumimoji="0" lang="en-US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Vrinda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পদ্ধতি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ট্রাফিককে দুটি ভাগে ভাগ করা হয় 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যেমন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৫০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Version A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এবং ৫০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 Version B)</a:t>
            </a:r>
            <a:r>
              <a:rPr kumimoji="0" lang="hi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ডেটা অ্যানালাইসিস করে দেখা হয় কোন ভার্সনটি বেশি কার্যকর।</a:t>
            </a:r>
            <a:endParaRPr kumimoji="0" lang="en-US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Vrinda" panose="020B0502040204020203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সুবিধা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Vrinda" panose="020B0502040204020203" pitchFamily="34" charset="0"/>
              </a:rPr>
              <a:t> অনুমানের বদলে ডেটার ওপর ভিত্তি করে সিদ্ধান্ত নেওয়া যায়।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9" name="Picture 3" descr="Article content">
            <a:extLst>
              <a:ext uri="{FF2B5EF4-FFF2-40B4-BE49-F238E27FC236}">
                <a16:creationId xmlns:a16="http://schemas.microsoft.com/office/drawing/2014/main" id="{754159A6-D286-E64A-1AB1-85E2A235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15" y="4172505"/>
            <a:ext cx="9326621" cy="236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183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FB45-1307-A6AB-4A71-58C61F4B2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BD" dirty="0"/>
              <a:t>ফিচার ফ্ল্যাগ (</a:t>
            </a:r>
            <a:r>
              <a:rPr lang="en-GB" dirty="0"/>
              <a:t>Feature Flag)</a:t>
            </a:r>
            <a:endParaRPr lang="en-BD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7946AE-F564-9C5D-4770-BB1C817CD0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789" y="2155570"/>
            <a:ext cx="952376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মূল বিষয়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 কোড ডিপ্লয়মেন্ট এবং ফিচার রিলিজকে আলাদা করা।</a:t>
            </a:r>
            <a:endParaRPr kumimoji="0" lang="en-US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কাজ করার ধরন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: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কোড লাইভে থাকে কিন্তু ফিচারটি 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"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বন্ধ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"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থাকে।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সুইচের মাধ্যমে নির্দিষ্ট শতাংশ 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(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যেমন ২০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%)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ব্যবহারকারীর জন্য ফিচারটি 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"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চালু</a:t>
            </a: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"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করা হয়।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BD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সুবিধা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Times New Roman" panose="02020603050405020304" pitchFamily="18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ongti TC" panose="02010600040101010101" pitchFamily="2" charset="-120"/>
                <a:cs typeface="Vrinda" panose="020B0502040204020203" pitchFamily="34" charset="0"/>
              </a:rPr>
              <a:t> </a:t>
            </a:r>
            <a:r>
              <a:rPr lang="bn-BD" sz="2000" dirty="0"/>
              <a:t>ডিপ্লয়মেন্ট ও রিলিজের মধ্যে বিচ্ছেদ, রিয়েল-টাইমে ফিচার নিয়ন্ত্রণ, দ্রুত রোলব্যাক।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ongti TC" panose="02010600040101010101" pitchFamily="2" charset="-120"/>
              <a:cs typeface="Times New Roman" panose="02020603050405020304" pitchFamily="18" charset="0"/>
            </a:endParaRPr>
          </a:p>
        </p:txBody>
      </p:sp>
      <p:pic>
        <p:nvPicPr>
          <p:cNvPr id="5123" name="Picture 3" descr="Article content">
            <a:extLst>
              <a:ext uri="{FF2B5EF4-FFF2-40B4-BE49-F238E27FC236}">
                <a16:creationId xmlns:a16="http://schemas.microsoft.com/office/drawing/2014/main" id="{44481FBA-68F0-4118-65CF-F79854974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1" y="4279037"/>
            <a:ext cx="9612889" cy="238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309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2882-A7E5-5D03-11D7-769AA666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dirty="0"/>
              <a:t>রোলিং ডিপ্লয়মেন্ট (</a:t>
            </a:r>
            <a:r>
              <a:rPr lang="en-GB" dirty="0"/>
              <a:t>Rolling Deployment)</a:t>
            </a:r>
            <a:endParaRPr lang="en-BD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0EC221-3B79-4443-1400-F2979298A4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154973"/>
            <a:ext cx="643637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ধারণা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 একটি একটি করে সার্ভার বা ইনস্ট্যান্স আপডেট করা।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ধাপসমূহ 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(Stages):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1: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প্রথম কয়েকটি সার্ভার আপডেট করা হয়।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 2 &amp; 3: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সফল হলে পরের সেট আপডেট হয়।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BD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Stage: 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সব সার্ভার নতুন ভার্সনে চলে আসে।</a:t>
            </a:r>
            <a:endParaRPr kumimoji="0" lang="en-US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Vrinda" panose="020B0502040204020203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bn-IN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সুবিধা</a:t>
            </a:r>
            <a:r>
              <a:rPr kumimoji="0" lang="en-BD" altLang="en-BD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:</a:t>
            </a:r>
            <a:r>
              <a:rPr kumimoji="0" lang="bn-IN" altLang="en-BD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 panose="020B0502040204020203" pitchFamily="34" charset="0"/>
              </a:rPr>
              <a:t> অ্যাপ্লিকেশন সবসময় সচল থাকে এবং রিসোর্স দক্ষতা বাড়ে।</a:t>
            </a:r>
            <a:endParaRPr kumimoji="0" lang="en-BD" altLang="en-BD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7" name="Picture 3" descr="Article content">
            <a:extLst>
              <a:ext uri="{FF2B5EF4-FFF2-40B4-BE49-F238E27FC236}">
                <a16:creationId xmlns:a16="http://schemas.microsoft.com/office/drawing/2014/main" id="{D053464A-F85C-CE73-BA65-16E8D9AD2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1" y="4360310"/>
            <a:ext cx="8984401" cy="229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2854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{C5C7536D-1D44-9E44-A100-C05971758B4C}tf10001121</Template>
  <TotalTime>29</TotalTime>
  <Words>378</Words>
  <Application>Microsoft Macintosh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2</vt:lpstr>
      <vt:lpstr>Quotable</vt:lpstr>
      <vt:lpstr>আধুনিক সফটওয়্যার ডিপ্লয়মেন্ট কৌশল</vt:lpstr>
      <vt:lpstr>ভূমিকা (Introduction) </vt:lpstr>
      <vt:lpstr>ব্লু-গ্রিন ডিপ্লয়মেন্ট (Blue/Green Deployment)</vt:lpstr>
      <vt:lpstr>ক্যানারি ডিপ্লয়মেন্ট (Canary Deployment)</vt:lpstr>
      <vt:lpstr>এ/বি টেস্টিং (A/B Testing)</vt:lpstr>
      <vt:lpstr>ফিচার ফ্ল্যাগ (Feature Flag)</vt:lpstr>
      <vt:lpstr>রোলিং ডিপ্লয়মেন্ট (Rolling Deployment)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shakibrybmn@gmail.com</dc:creator>
  <cp:lastModifiedBy>shakibrybmn@gmail.com</cp:lastModifiedBy>
  <cp:revision>2</cp:revision>
  <dcterms:created xsi:type="dcterms:W3CDTF">2026-02-06T09:12:12Z</dcterms:created>
  <dcterms:modified xsi:type="dcterms:W3CDTF">2026-02-06T09:41:45Z</dcterms:modified>
</cp:coreProperties>
</file>